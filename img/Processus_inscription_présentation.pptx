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48749412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48749412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48749412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48749412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4874941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4874941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fd8919f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fd8919f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fd8919f2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fd8919f2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fd8919f2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fd8919f2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fd8919f2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fd8919f2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45b0b1b7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45b0b1b7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0f27d01e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0f27d01e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27975" y="916750"/>
            <a:ext cx="8520600" cy="13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80">
                <a:solidFill>
                  <a:srgbClr val="D07D29"/>
                </a:solidFill>
              </a:rPr>
              <a:t>Inscriptions 2026 - </a:t>
            </a:r>
            <a:endParaRPr sz="3380">
              <a:solidFill>
                <a:srgbClr val="D07D2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380">
                <a:solidFill>
                  <a:srgbClr val="D07D29"/>
                </a:solidFill>
              </a:rPr>
              <a:t>DYB</a:t>
            </a:r>
            <a:endParaRPr sz="3380">
              <a:solidFill>
                <a:srgbClr val="D07D29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6455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Présentation 12/05/206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4004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963" y="2416125"/>
            <a:ext cx="8521519" cy="266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353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99A9"/>
              </a:buClr>
              <a:buSzPts val="1800"/>
              <a:buChar char="-"/>
            </a:pPr>
            <a:r>
              <a:rPr lang="en">
                <a:solidFill>
                  <a:srgbClr val="0099A9"/>
                </a:solidFill>
              </a:rPr>
              <a:t>L’idée est de promouvoir le plus possible l’inscription en ligne, afin de : </a:t>
            </a:r>
            <a:endParaRPr>
              <a:solidFill>
                <a:srgbClr val="0099A9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Développer le paiement par Helloasso qui ne nécessite aucun action des administratifs,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Fiabiliser les données car les données sont saisies par le titulaire de celles-ci,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Donner une plus grande liberté aux adhérents pour s’inscrire, (pas de déplacement, paiement en ligne, envoi d’un chèque)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99A9"/>
              </a:buClr>
              <a:buSzPts val="1800"/>
              <a:buChar char="-"/>
            </a:pPr>
            <a:r>
              <a:rPr lang="en">
                <a:solidFill>
                  <a:srgbClr val="0099A9"/>
                </a:solidFill>
              </a:rPr>
              <a:t>Simplifier les processus internes</a:t>
            </a:r>
            <a:endParaRPr>
              <a:solidFill>
                <a:srgbClr val="0099A9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Simplifier le travail administratif de saisie des inscriptions,</a:t>
            </a:r>
            <a:endParaRPr>
              <a:solidFill>
                <a:srgbClr val="0099A9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-"/>
            </a:pPr>
            <a:r>
              <a:rPr lang="en">
                <a:solidFill>
                  <a:srgbClr val="595959"/>
                </a:solidFill>
              </a:rPr>
              <a:t>Donner meilleure visibilité aux acteurs sur les inscrits/ateliers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-"/>
            </a:pPr>
            <a:r>
              <a:rPr lang="en">
                <a:solidFill>
                  <a:srgbClr val="595959"/>
                </a:solidFill>
              </a:rPr>
              <a:t>Suivi/Avancement des inscriptions par atelier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-"/>
            </a:pPr>
            <a:r>
              <a:rPr lang="en">
                <a:solidFill>
                  <a:srgbClr val="595959"/>
                </a:solidFill>
              </a:rPr>
              <a:t>Historique des inscriptions par année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-"/>
            </a:pPr>
            <a:r>
              <a:rPr lang="en">
                <a:solidFill>
                  <a:srgbClr val="595959"/>
                </a:solidFill>
              </a:rPr>
              <a:t>Analyses </a:t>
            </a:r>
            <a:endParaRPr>
              <a:solidFill>
                <a:srgbClr val="595959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-"/>
            </a:pPr>
            <a:r>
              <a:rPr lang="en">
                <a:solidFill>
                  <a:srgbClr val="595959"/>
                </a:solidFill>
              </a:rPr>
              <a:t>Fiabiliser les données 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-"/>
            </a:pPr>
            <a:r>
              <a:rPr lang="en"/>
              <a:t>Gestion des réductions, </a:t>
            </a:r>
            <a:endParaRPr>
              <a:solidFill>
                <a:srgbClr val="595959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99A9"/>
              </a:buClr>
              <a:buSzPts val="1400"/>
              <a:buChar char="-"/>
            </a:pPr>
            <a:r>
              <a:rPr lang="en"/>
              <a:t>Transmettre automatiquement les informations vers la comptabilité, (processus validé par le CAC),</a:t>
            </a:r>
            <a:endParaRPr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720500"/>
            <a:ext cx="85206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07D29"/>
                </a:solidFill>
              </a:rPr>
              <a:t>Objectif du projet</a:t>
            </a:r>
            <a:endParaRPr>
              <a:solidFill>
                <a:srgbClr val="D07D29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88" y="44213"/>
            <a:ext cx="3400425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353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99A9"/>
              </a:buClr>
              <a:buSzPts val="1800"/>
              <a:buChar char="-"/>
            </a:pPr>
            <a:r>
              <a:rPr lang="en">
                <a:solidFill>
                  <a:srgbClr val="0099A9"/>
                </a:solidFill>
              </a:rPr>
              <a:t>Contraintes à prendre en compte</a:t>
            </a:r>
            <a:endParaRPr>
              <a:solidFill>
                <a:srgbClr val="0099A9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-"/>
            </a:pPr>
            <a:r>
              <a:rPr lang="en">
                <a:solidFill>
                  <a:srgbClr val="434343"/>
                </a:solidFill>
              </a:rPr>
              <a:t>Toutes les personnes ne sont pas en mesure de s’inscrire sur Internet</a:t>
            </a:r>
            <a:endParaRPr>
              <a:solidFill>
                <a:srgbClr val="434343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-"/>
            </a:pPr>
            <a:r>
              <a:rPr lang="en">
                <a:solidFill>
                  <a:srgbClr val="434343"/>
                </a:solidFill>
              </a:rPr>
              <a:t>Stat Insee 15% des personnes ne se sont pas connectées à Internet dans la dernière année,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-"/>
            </a:pPr>
            <a:r>
              <a:rPr lang="en"/>
              <a:t>L’application d’inscription doit être disponible sur mobile,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Les cas d’utilisation à gérer sont 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L’adhérent s’inscrit et paye par internet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L’adhérent s’inscrit sur internet et paye par un autre moyen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L’adhérent ne s’inscrit pas sur internet.</a:t>
            </a:r>
            <a:endParaRPr/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720500"/>
            <a:ext cx="85206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07D29"/>
                </a:solidFill>
              </a:rPr>
              <a:t>Principe</a:t>
            </a:r>
            <a:endParaRPr>
              <a:solidFill>
                <a:srgbClr val="D07D29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88" y="44213"/>
            <a:ext cx="3400425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538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99A9"/>
              </a:buClr>
              <a:buSzPts val="1800"/>
              <a:buChar char="-"/>
            </a:pPr>
            <a:r>
              <a:rPr lang="en">
                <a:solidFill>
                  <a:srgbClr val="0099A9"/>
                </a:solidFill>
              </a:rPr>
              <a:t>L’adhérent s’inscrit sur le formulaire DYBWeb</a:t>
            </a:r>
            <a:endParaRPr>
              <a:solidFill>
                <a:srgbClr val="0099A9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Il peut régler immédiatement par HelloAsso,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S’il demande un règlement par Chèque, (même en paiement échelonné)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Il lui est proposé déposer son chèque dans la boîte ou  d’envoyer son chèque par la poste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S’il demande un règlement par un autre moyen : Sortir, chèques vacances</a:t>
            </a:r>
            <a:r>
              <a:rPr lang="en"/>
              <a:t>, espèces </a:t>
            </a:r>
            <a:r>
              <a:rPr lang="en"/>
              <a:t>etc,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Il lui est proposé de passer à la permanence inscription,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99A9"/>
              </a:buClr>
              <a:buSzPts val="1800"/>
              <a:buChar char="-"/>
            </a:pPr>
            <a:r>
              <a:rPr lang="en">
                <a:solidFill>
                  <a:srgbClr val="0099A9"/>
                </a:solidFill>
              </a:rPr>
              <a:t>L’adhérent ne s’inscrit pas par internet</a:t>
            </a:r>
            <a:endParaRPr>
              <a:solidFill>
                <a:srgbClr val="0099A9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-"/>
            </a:pPr>
            <a:r>
              <a:rPr lang="en">
                <a:solidFill>
                  <a:srgbClr val="434343"/>
                </a:solidFill>
              </a:rPr>
              <a:t>Il vient à la permanence inscription aux date et heures prévues. </a:t>
            </a:r>
            <a:endParaRPr/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863575"/>
            <a:ext cx="85206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07D29"/>
                </a:solidFill>
              </a:rPr>
              <a:t>Vue de l’adhérent</a:t>
            </a:r>
            <a:endParaRPr>
              <a:solidFill>
                <a:srgbClr val="D07D29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88" y="44213"/>
            <a:ext cx="3400425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579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D07D29"/>
                </a:solidFill>
              </a:rPr>
              <a:t>Architecture </a:t>
            </a:r>
            <a:r>
              <a:rPr lang="en">
                <a:solidFill>
                  <a:srgbClr val="D07D29"/>
                </a:solidFill>
              </a:rPr>
              <a:t>Inscriptions : schéma de principe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524" y="69974"/>
            <a:ext cx="287963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Processus inscription (1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5947" y="1101300"/>
            <a:ext cx="5824649" cy="404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 title="Processus inscription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7347" y="1060875"/>
            <a:ext cx="5824649" cy="40421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579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>
                <a:solidFill>
                  <a:srgbClr val="D07D29"/>
                </a:solidFill>
              </a:rPr>
              <a:t>M</a:t>
            </a:r>
            <a:r>
              <a:rPr lang="en" sz="1920">
                <a:solidFill>
                  <a:srgbClr val="D07D29"/>
                </a:solidFill>
              </a:rPr>
              <a:t>ode 1 : l’adhérent s’inscrit sur DYB Web, il paye la totalité par Hello Asso</a:t>
            </a:r>
            <a:endParaRPr sz="1920"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524" y="69974"/>
            <a:ext cx="2879633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8"/>
          <p:cNvCxnSpPr/>
          <p:nvPr/>
        </p:nvCxnSpPr>
        <p:spPr>
          <a:xfrm>
            <a:off x="2369225" y="2049650"/>
            <a:ext cx="485700" cy="3360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8"/>
          <p:cNvCxnSpPr/>
          <p:nvPr/>
        </p:nvCxnSpPr>
        <p:spPr>
          <a:xfrm flipH="1" rot="10800000">
            <a:off x="3420925" y="1633575"/>
            <a:ext cx="756900" cy="324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8"/>
          <p:cNvCxnSpPr/>
          <p:nvPr/>
        </p:nvCxnSpPr>
        <p:spPr>
          <a:xfrm flipH="1" rot="10800000">
            <a:off x="5567450" y="3089325"/>
            <a:ext cx="1096500" cy="2244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8"/>
          <p:cNvCxnSpPr/>
          <p:nvPr/>
        </p:nvCxnSpPr>
        <p:spPr>
          <a:xfrm flipH="1">
            <a:off x="4901000" y="2324625"/>
            <a:ext cx="193500" cy="5625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8"/>
          <p:cNvCxnSpPr/>
          <p:nvPr/>
        </p:nvCxnSpPr>
        <p:spPr>
          <a:xfrm>
            <a:off x="4010050" y="2571750"/>
            <a:ext cx="462300" cy="4530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 title="Processus inscription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9100" y="1506025"/>
            <a:ext cx="5315176" cy="368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524" y="69974"/>
            <a:ext cx="2879633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>
            <p:ph type="title"/>
          </p:nvPr>
        </p:nvSpPr>
        <p:spPr>
          <a:xfrm>
            <a:off x="426850" y="579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solidFill>
                  <a:srgbClr val="D07D29"/>
                </a:solidFill>
              </a:rPr>
              <a:t>Mode 2 : l’adhérent s’inscrit sur DYB Web, il souhaite payer : </a:t>
            </a:r>
            <a:endParaRPr sz="1720">
              <a:solidFill>
                <a:srgbClr val="D07D29"/>
              </a:solidFill>
            </a:endParaRPr>
          </a:p>
          <a:p>
            <a:pPr indent="-337820" lvl="0" marL="457200" rtl="0" algn="l">
              <a:spcBef>
                <a:spcPts val="0"/>
              </a:spcBef>
              <a:spcAft>
                <a:spcPts val="0"/>
              </a:spcAft>
              <a:buClr>
                <a:srgbClr val="D07D29"/>
              </a:buClr>
              <a:buSzPts val="1720"/>
              <a:buChar char="-"/>
            </a:pPr>
            <a:r>
              <a:rPr lang="en" sz="1720">
                <a:solidFill>
                  <a:srgbClr val="D07D29"/>
                </a:solidFill>
              </a:rPr>
              <a:t>par chèque, =&gt; Dépose son chèque dans la boîte.envoie par la poste,</a:t>
            </a:r>
            <a:endParaRPr sz="1720">
              <a:solidFill>
                <a:srgbClr val="D07D29"/>
              </a:solidFill>
            </a:endParaRPr>
          </a:p>
          <a:p>
            <a:pPr indent="-337820" lvl="0" marL="457200" rtl="0" algn="l">
              <a:spcBef>
                <a:spcPts val="0"/>
              </a:spcBef>
              <a:spcAft>
                <a:spcPts val="0"/>
              </a:spcAft>
              <a:buClr>
                <a:srgbClr val="D07D29"/>
              </a:buClr>
              <a:buSzPts val="1720"/>
              <a:buChar char="-"/>
            </a:pPr>
            <a:r>
              <a:rPr lang="en" sz="1720">
                <a:solidFill>
                  <a:srgbClr val="D07D29"/>
                </a:solidFill>
              </a:rPr>
              <a:t>En espèces, dispositif sortir, chèques vacances, =&gt; Permanence incriptions </a:t>
            </a:r>
            <a:endParaRPr sz="1720"/>
          </a:p>
        </p:txBody>
      </p:sp>
      <p:cxnSp>
        <p:nvCxnSpPr>
          <p:cNvPr id="106" name="Google Shape;106;p19"/>
          <p:cNvCxnSpPr/>
          <p:nvPr/>
        </p:nvCxnSpPr>
        <p:spPr>
          <a:xfrm>
            <a:off x="2523075" y="2202500"/>
            <a:ext cx="463200" cy="3180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9"/>
          <p:cNvCxnSpPr/>
          <p:nvPr/>
        </p:nvCxnSpPr>
        <p:spPr>
          <a:xfrm>
            <a:off x="2596000" y="2668800"/>
            <a:ext cx="1552800" cy="2118900"/>
          </a:xfrm>
          <a:prstGeom prst="straightConnector1">
            <a:avLst/>
          </a:prstGeom>
          <a:noFill/>
          <a:ln cap="flat" cmpd="sng" w="3810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9"/>
          <p:cNvCxnSpPr/>
          <p:nvPr/>
        </p:nvCxnSpPr>
        <p:spPr>
          <a:xfrm flipH="1" rot="10800000">
            <a:off x="4690625" y="4016575"/>
            <a:ext cx="69600" cy="6336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9"/>
          <p:cNvCxnSpPr/>
          <p:nvPr/>
        </p:nvCxnSpPr>
        <p:spPr>
          <a:xfrm flipH="1" rot="10800000">
            <a:off x="5558225" y="3412700"/>
            <a:ext cx="984300" cy="1299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9"/>
          <p:cNvCxnSpPr/>
          <p:nvPr/>
        </p:nvCxnSpPr>
        <p:spPr>
          <a:xfrm>
            <a:off x="4010050" y="2887150"/>
            <a:ext cx="462300" cy="4530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 title="Processus inscription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9100" y="1229275"/>
            <a:ext cx="5713976" cy="3965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579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20">
                <a:solidFill>
                  <a:srgbClr val="D07D29"/>
                </a:solidFill>
              </a:rPr>
              <a:t>Mode 3 : l’adhérent ne s’inscrit pas sur DYBWeb. </a:t>
            </a:r>
            <a:br>
              <a:rPr lang="en" sz="1820">
                <a:solidFill>
                  <a:srgbClr val="D07D29"/>
                </a:solidFill>
              </a:rPr>
            </a:br>
            <a:r>
              <a:rPr lang="en" sz="1820">
                <a:solidFill>
                  <a:srgbClr val="D07D29"/>
                </a:solidFill>
              </a:rPr>
              <a:t>- Il vient à la permanence inscription</a:t>
            </a:r>
            <a:endParaRPr sz="1820"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524" y="69974"/>
            <a:ext cx="2879633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20"/>
          <p:cNvCxnSpPr/>
          <p:nvPr/>
        </p:nvCxnSpPr>
        <p:spPr>
          <a:xfrm flipH="1" rot="10800000">
            <a:off x="5672600" y="3226675"/>
            <a:ext cx="1080300" cy="1893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0"/>
          <p:cNvCxnSpPr/>
          <p:nvPr/>
        </p:nvCxnSpPr>
        <p:spPr>
          <a:xfrm>
            <a:off x="2072050" y="2533300"/>
            <a:ext cx="1610700" cy="1995300"/>
          </a:xfrm>
          <a:prstGeom prst="straightConnector1">
            <a:avLst/>
          </a:prstGeom>
          <a:noFill/>
          <a:ln cap="flat" cmpd="sng" w="3810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20"/>
          <p:cNvCxnSpPr/>
          <p:nvPr/>
        </p:nvCxnSpPr>
        <p:spPr>
          <a:xfrm flipH="1" rot="10800000">
            <a:off x="4877675" y="3975650"/>
            <a:ext cx="146400" cy="6405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20"/>
          <p:cNvCxnSpPr>
            <a:stCxn id="117" idx="2"/>
          </p:cNvCxnSpPr>
          <p:nvPr/>
        </p:nvCxnSpPr>
        <p:spPr>
          <a:xfrm rot="10800000">
            <a:off x="3744300" y="3933475"/>
            <a:ext cx="827700" cy="6354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20"/>
          <p:cNvCxnSpPr/>
          <p:nvPr/>
        </p:nvCxnSpPr>
        <p:spPr>
          <a:xfrm rot="10800000">
            <a:off x="3655500" y="2749675"/>
            <a:ext cx="1068900" cy="19716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20"/>
          <p:cNvCxnSpPr/>
          <p:nvPr/>
        </p:nvCxnSpPr>
        <p:spPr>
          <a:xfrm>
            <a:off x="4140675" y="2725400"/>
            <a:ext cx="412500" cy="4530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311700" y="868088"/>
            <a:ext cx="85206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07D29"/>
                </a:solidFill>
              </a:rPr>
              <a:t>Mission de la permanence inscription</a:t>
            </a:r>
            <a:endParaRPr>
              <a:solidFill>
                <a:srgbClr val="D07D29"/>
              </a:solidFill>
            </a:endParaRPr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311700" y="1490050"/>
            <a:ext cx="8520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-"/>
            </a:pPr>
            <a:r>
              <a:rPr lang="en">
                <a:solidFill>
                  <a:srgbClr val="595959"/>
                </a:solidFill>
              </a:rPr>
              <a:t>Rôle</a:t>
            </a:r>
            <a:endParaRPr>
              <a:solidFill>
                <a:srgbClr val="595959"/>
              </a:solidFill>
            </a:endParaRPr>
          </a:p>
          <a:p>
            <a:pPr indent="-317182" lvl="0" marL="914400" rtl="0" algn="l">
              <a:spcBef>
                <a:spcPts val="0"/>
              </a:spcBef>
              <a:spcAft>
                <a:spcPts val="0"/>
              </a:spcAft>
              <a:buClr>
                <a:srgbClr val="0099A9"/>
              </a:buClr>
              <a:buSzPct val="100000"/>
              <a:buChar char="-"/>
            </a:pPr>
            <a:r>
              <a:rPr lang="en">
                <a:solidFill>
                  <a:srgbClr val="0099A9"/>
                </a:solidFill>
              </a:rPr>
              <a:t>Enregistrer les chèques arrivés dans la boîte</a:t>
            </a:r>
            <a:endParaRPr>
              <a:solidFill>
                <a:srgbClr val="0099A9"/>
              </a:solidFill>
            </a:endParaRPr>
          </a:p>
          <a:p>
            <a:pPr indent="-297498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Rechercher la facture par le nom et numéro donné par DYBWEB</a:t>
            </a:r>
            <a:endParaRPr>
              <a:solidFill>
                <a:schemeClr val="dk1"/>
              </a:solidFill>
            </a:endParaRPr>
          </a:p>
          <a:p>
            <a:pPr indent="-317182" lvl="0" marL="914400" rtl="0" algn="l">
              <a:spcBef>
                <a:spcPts val="0"/>
              </a:spcBef>
              <a:spcAft>
                <a:spcPts val="0"/>
              </a:spcAft>
              <a:buClr>
                <a:srgbClr val="0099A9"/>
              </a:buClr>
              <a:buSzPct val="100000"/>
              <a:buChar char="-"/>
            </a:pPr>
            <a:r>
              <a:rPr lang="en">
                <a:solidFill>
                  <a:srgbClr val="0099A9"/>
                </a:solidFill>
              </a:rPr>
              <a:t>Recevoir les adhérents</a:t>
            </a:r>
            <a:endParaRPr>
              <a:solidFill>
                <a:srgbClr val="0099A9"/>
              </a:solidFill>
            </a:endParaRPr>
          </a:p>
          <a:p>
            <a:pPr indent="-297498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Adhérent inscrit sur DYBWEB =&gt; enregistrer les paiements</a:t>
            </a:r>
            <a:endParaRPr>
              <a:solidFill>
                <a:schemeClr val="dk1"/>
              </a:solidFill>
            </a:endParaRPr>
          </a:p>
          <a:p>
            <a:pPr indent="-297498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Adhérent non inscrit sur DYBWEB =&gt; Saisir dans DYBWeb l’inscription, enregistrer les paiements</a:t>
            </a:r>
            <a:endParaRPr>
              <a:solidFill>
                <a:schemeClr val="dk1"/>
              </a:solidFill>
            </a:endParaRPr>
          </a:p>
          <a:p>
            <a:pPr indent="-317182" lvl="0" marL="914400" rtl="0" algn="l">
              <a:spcBef>
                <a:spcPts val="0"/>
              </a:spcBef>
              <a:spcAft>
                <a:spcPts val="0"/>
              </a:spcAft>
              <a:buClr>
                <a:srgbClr val="0099A9"/>
              </a:buClr>
              <a:buSzPct val="100000"/>
              <a:buChar char="-"/>
            </a:pPr>
            <a:r>
              <a:rPr lang="en">
                <a:solidFill>
                  <a:srgbClr val="0099A9"/>
                </a:solidFill>
              </a:rPr>
              <a:t>Clôture de caisse</a:t>
            </a:r>
            <a:endParaRPr>
              <a:solidFill>
                <a:srgbClr val="595959"/>
              </a:solidFill>
            </a:endParaRPr>
          </a:p>
          <a:p>
            <a:pPr indent="-297498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1) afficher la clôture de caisse</a:t>
            </a:r>
            <a:endParaRPr/>
          </a:p>
          <a:p>
            <a:pPr indent="-297498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2) Vérifier que les 2 montants totaux sont égaux,</a:t>
            </a:r>
            <a:endParaRPr/>
          </a:p>
          <a:p>
            <a:pPr indent="-297498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3) Valider que les montants des modes de correspondent aux chèques, espèces etc qu'il ont en caisse,</a:t>
            </a:r>
            <a:endParaRPr/>
          </a:p>
          <a:p>
            <a:pPr indent="-297498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4) Corriger éventuellement les écarts.   </a:t>
            </a:r>
            <a:endParaRPr/>
          </a:p>
          <a:p>
            <a:pPr indent="-297498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5) imprimer le document de clôture de caisse et le joindre aux chèques, espèces, CB reçus.</a:t>
            </a:r>
            <a:endParaRPr/>
          </a:p>
          <a:p>
            <a:pPr indent="-297498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6) transmettre le tout à la comptabilité (YB, si j'ai bien compris).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-"/>
            </a:pPr>
            <a:r>
              <a:rPr lang="en">
                <a:solidFill>
                  <a:srgbClr val="595959"/>
                </a:solidFill>
              </a:rPr>
              <a:t>Mission</a:t>
            </a:r>
            <a:endParaRPr>
              <a:solidFill>
                <a:srgbClr val="595959"/>
              </a:solidFill>
            </a:endParaRPr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Durée 2 mois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Présence 18-20hrs, lundi, mardi mercredi, jeudi (horaires à préciser)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Constitution d’une équipe et d’un planning d’ouverture de la permanence inscription</a:t>
            </a:r>
            <a:endParaRPr/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38" y="82838"/>
            <a:ext cx="3400425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260175" y="747675"/>
            <a:ext cx="85206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07D29"/>
                </a:solidFill>
              </a:rPr>
              <a:t>Inscription - processus détaillé</a:t>
            </a:r>
            <a:endParaRPr>
              <a:solidFill>
                <a:srgbClr val="D07D29"/>
              </a:solidFill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975" y="133375"/>
            <a:ext cx="34004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 title="Processus inscription détaillé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8925" y="1150200"/>
            <a:ext cx="3638376" cy="389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